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Title — hold 3 beats before speaking.</a:t>
            </a:r>
          </a:p>
          <a:p>
            <a:r>
              <a:rPr sz="1100"/>
              <a:t>Silent. Three beats of music. Logo lands.</a:t>
            </a:r>
          </a:p>
          <a:p>
            <a:r>
              <a:rPr sz="1100" i="1"/>
              <a:t>CUE: Hold for 3 seconds before pressing →. No talking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The problem.</a:t>
            </a:r>
          </a:p>
          <a:p>
            <a:r>
              <a:rPr sz="1100"/>
              <a:t>"Two-point-six billion people have no internet. Three hundred million of them are students."</a:t>
            </a:r>
          </a:p>
          <a:p>
            <a:r>
              <a:rPr sz="1100" i="1"/>
              <a:t>CUE: Pause after "no internet". Let the number sit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The solution.</a:t>
            </a:r>
          </a:p>
          <a:p>
            <a:r>
              <a:rPr sz="1100"/>
              <a:t>"OfflineFirst is a classroom that works without the internet. Three pieces of standard web tech: the app caches itself, lessons live in the browser database, devices on the same WiFi share over WebRTC."</a:t>
            </a:r>
          </a:p>
          <a:p>
            <a:r>
              <a:rPr sz="1100" i="1"/>
              <a:t>CUE: Don't overexplain. The demo is the proof. ~10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CUT to app — demo 1 (30s of screen recording).</a:t>
            </a:r>
          </a:p>
          <a:p>
            <a:r>
              <a:rPr sz="1100"/>
              <a:t>"Watch a student set up the app, open a lesson, and take a quiz."</a:t>
            </a:r>
          </a:p>
          <a:p>
            <a:r>
              <a:rPr sz="1100" i="1"/>
              <a:t>CUE: SWITCH to screen recording.
  1. Onboarding (welcome → student → name 'Aminata' → grade)
  2. Click Mathematics in sidebar
  3. Open Introduction to Fractions
  4. Scroll lesson · tap one Listen button
  5. Click Start quiz → answer 2 questions → see result
SWITCH back to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CUT to app — offline demo (25s, MONEY SHOT).</a:t>
            </a:r>
          </a:p>
          <a:p>
            <a:r>
              <a:rPr sz="1100"/>
              <a:t>"Now I turn the internet completely off. The app still works. I take a quiz. When I come back online, the score appears on the teacher's dashboard."</a:t>
            </a:r>
          </a:p>
          <a:p>
            <a:r>
              <a:rPr sz="1100" i="1"/>
              <a:t>CUE: SWITCH to screen recording.
  1. DevTools → Network → check Offline (show the throttling badge)
  2. Reload the page → app still loads
  3. Take any quiz, finish it, see the green score hero
  4. DevTools → uncheck Offline
  5. Wait 5s, switch to Teacher view (Settings → restart, or onboard as teacher in another tab)
  6. Show the new score in Results
Do not rush. This is the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How the sync spreads.</a:t>
            </a:r>
          </a:p>
          <a:p>
            <a:r>
              <a:rPr sz="1100"/>
              <a:t>"When one teacher publishes a lesson, the server tells every other active device about it. They swap peer lists. New lessons reach every tablet on the local WiFi within thirty seconds."</a:t>
            </a:r>
          </a:p>
          <a:p>
            <a:r>
              <a:rPr sz="1100" i="1"/>
              <a:t>CUE: Pause on the diagram. Hands off keyboard while you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Reach + cost.</a:t>
            </a:r>
          </a:p>
          <a:p>
            <a:r>
              <a:rPr sz="1100"/>
              <a:t>"Zero dollars to deploy on Render's free tier. Sixty dollars for a Raspberry Pi at a school. Four translated UI languages. Zero kilobytes of internet needed to take a quiz after first install. Three UN Sustainable Development Goals."</a:t>
            </a:r>
          </a:p>
          <a:p>
            <a:r>
              <a:rPr sz="1100" i="1"/>
              <a:t>CUE: Speak each number deliberately. Land on the SDGs.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200"/>
              <a:t>Closing.</a:t>
            </a:r>
          </a:p>
          <a:p>
            <a:r>
              <a:rPr sz="1100"/>
              <a:t>"Live at offlinefirst-dot-onrender-dot-com. Open source. Built for the Young Coders Sphere competition."</a:t>
            </a:r>
          </a:p>
          <a:p>
            <a:r>
              <a:rPr sz="1100" i="1"/>
              <a:t>CUE: Hold for 3 seconds after speaking. Let the URL be 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0" y="1828800"/>
            <a:ext cx="822960" cy="822960"/>
          </a:xfrm>
          <a:prstGeom prst="roundRect">
            <a:avLst>
              <a:gd name="adj" fmla="val 24444"/>
            </a:avLst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9592" y="1856232"/>
            <a:ext cx="768096" cy="7680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96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9169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0" b="1">
                <a:solidFill>
                  <a:srgbClr val="202124"/>
                </a:solidFill>
                <a:latin typeface="Google Sans"/>
              </a:rPr>
              <a:t>offlinefirst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38912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5F6168"/>
                </a:solidFill>
                <a:latin typeface="Roboto"/>
              </a:rPr>
              <a:t>Education without internet.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spc="800">
                <a:solidFill>
                  <a:srgbClr val="9AA0A6"/>
                </a:solidFill>
                <a:latin typeface="Consolas"/>
              </a:rPr>
              <a:t>YCS 2026  ·  OPEN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967D2"/>
                </a:solidFill>
                <a:latin typeface="Google Sans"/>
              </a:rPr>
              <a:t>offlinefirst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228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spc="800">
                <a:solidFill>
                  <a:srgbClr val="9AA0A6"/>
                </a:solidFill>
                <a:latin typeface="Consolas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058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spc="1600">
                <a:solidFill>
                  <a:srgbClr val="1967D2"/>
                </a:solidFill>
                <a:latin typeface="Consolas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30000" b="1">
                <a:solidFill>
                  <a:srgbClr val="1967D2"/>
                </a:solidFill>
                <a:latin typeface="Google Sans"/>
              </a:rPr>
              <a:t>2.6B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2920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800" b="0">
                <a:solidFill>
                  <a:srgbClr val="202124"/>
                </a:solidFill>
                <a:latin typeface="Roboto"/>
              </a:rPr>
              <a:t>people have </a:t>
            </a:r>
            <a:r>
              <a:rPr sz="2800" b="1">
                <a:solidFill>
                  <a:srgbClr val="202124"/>
                </a:solidFill>
                <a:latin typeface="Roboto"/>
              </a:rPr>
              <a:t>no internet</a:t>
            </a:r>
            <a:r>
              <a:rPr sz="2800" b="0">
                <a:solidFill>
                  <a:srgbClr val="202124"/>
                </a:solidFill>
                <a:latin typeface="Roboto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5F6168"/>
                </a:solidFill>
                <a:latin typeface="Roboto"/>
              </a:rPr>
              <a:t>300 million of them are students.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spc="400">
                <a:solidFill>
                  <a:srgbClr val="9AA0A6"/>
                </a:solidFill>
                <a:latin typeface="Consolas"/>
              </a:rPr>
              <a:t>SOURCE: UN ITU · UNESCO,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967D2"/>
                </a:solidFill>
                <a:latin typeface="Google Sans"/>
              </a:rPr>
              <a:t>offlinefirst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228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spc="800">
                <a:solidFill>
                  <a:srgbClr val="9AA0A6"/>
                </a:solidFill>
                <a:latin typeface="Consolas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1600">
                <a:solidFill>
                  <a:srgbClr val="1967D2"/>
                </a:solidFill>
                <a:latin typeface="Consolas"/>
              </a:rPr>
              <a:t>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>
                <a:solidFill>
                  <a:srgbClr val="202124"/>
                </a:solidFill>
                <a:latin typeface="Google Sans"/>
              </a:rPr>
              <a:t>A classroom that works
without the internet.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840480"/>
            <a:ext cx="3454298" cy="2194560"/>
          </a:xfrm>
          <a:prstGeom prst="roundRect">
            <a:avLst>
              <a:gd name="adj" fmla="val 75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" y="413308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800600"/>
            <a:ext cx="29056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02124"/>
                </a:solidFill>
                <a:latin typeface="Google Sans"/>
              </a:rPr>
              <a:t>Cached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257800"/>
            <a:ext cx="29056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F6168"/>
                </a:solidFill>
                <a:latin typeface="Roboto"/>
              </a:rPr>
              <a:t>PWA service worker holds the whole app on the device.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698" y="3840480"/>
            <a:ext cx="3454298" cy="2194560"/>
          </a:xfrm>
          <a:prstGeom prst="roundRect">
            <a:avLst>
              <a:gd name="adj" fmla="val 75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1306" y="413308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1306" y="4800600"/>
            <a:ext cx="29056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02124"/>
                </a:solidFill>
                <a:latin typeface="Google Sans"/>
              </a:rPr>
              <a:t>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1306" y="5257800"/>
            <a:ext cx="29056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F6168"/>
                </a:solidFill>
                <a:latin typeface="Roboto"/>
              </a:rPr>
              <a:t>Lessons and quiz scores live in IndexedDB. No network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7316" y="3840480"/>
            <a:ext cx="3454298" cy="2194560"/>
          </a:xfrm>
          <a:prstGeom prst="roundRect">
            <a:avLst>
              <a:gd name="adj" fmla="val 75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89924" y="413308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9924" y="4800600"/>
            <a:ext cx="29056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02124"/>
                </a:solidFill>
                <a:latin typeface="Google Sans"/>
              </a:rPr>
              <a:t>Mesh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9924" y="5257800"/>
            <a:ext cx="29056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F6168"/>
                </a:solidFill>
                <a:latin typeface="Roboto"/>
              </a:rPr>
              <a:t>WebRTC syncs devices on the same WiFi, peer-to-peer.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967D2"/>
                </a:solidFill>
                <a:latin typeface="Google Sans"/>
              </a:rPr>
              <a:t>offlinefirst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2895" y="228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spc="800">
                <a:solidFill>
                  <a:srgbClr val="9AA0A6"/>
                </a:solidFill>
                <a:latin typeface="Consolas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>
                <a:solidFill>
                  <a:srgbClr val="FFFFFF"/>
                </a:solidFill>
                <a:latin typeface="Google Sans"/>
              </a:rPr>
              <a:t>Let's see it.</a:t>
            </a:r>
          </a:p>
        </p:txBody>
      </p:sp>
      <p:sp>
        <p:nvSpPr>
          <p:cNvPr id="3" name="Oval 2"/>
          <p:cNvSpPr/>
          <p:nvPr/>
        </p:nvSpPr>
        <p:spPr>
          <a:xfrm>
            <a:off x="4754880" y="4005072"/>
            <a:ext cx="182880" cy="182880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3931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1000">
                <a:solidFill>
                  <a:srgbClr val="D93025"/>
                </a:solidFill>
                <a:latin typeface="Consolas"/>
              </a:rPr>
              <a:t>REC  ·  ROLL APP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ECBFA"/>
                </a:solidFill>
                <a:latin typeface="Google Sans"/>
              </a:rPr>
              <a:t>offlinefirst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228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spc="1000">
                <a:solidFill>
                  <a:srgbClr val="D93025"/>
                </a:solidFill>
                <a:latin typeface="Consolas"/>
              </a:rPr>
              <a:t>CUT TO 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>
                <a:solidFill>
                  <a:srgbClr val="FFFFFF"/>
                </a:solidFill>
                <a:latin typeface="Google Sans"/>
              </a:rPr>
              <a:t>Now turn off the WiFi.</a:t>
            </a:r>
          </a:p>
        </p:txBody>
      </p:sp>
      <p:sp>
        <p:nvSpPr>
          <p:cNvPr id="3" name="Oval 2"/>
          <p:cNvSpPr/>
          <p:nvPr/>
        </p:nvSpPr>
        <p:spPr>
          <a:xfrm>
            <a:off x="4754880" y="4005072"/>
            <a:ext cx="182880" cy="182880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3931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1000">
                <a:solidFill>
                  <a:srgbClr val="D93025"/>
                </a:solidFill>
                <a:latin typeface="Consolas"/>
              </a:rPr>
              <a:t>REC  ·  OFFLINE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ECBFA"/>
                </a:solidFill>
                <a:latin typeface="Google Sans"/>
              </a:rPr>
              <a:t>offlinefirst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228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spc="1000">
                <a:solidFill>
                  <a:srgbClr val="D93025"/>
                </a:solidFill>
                <a:latin typeface="Consolas"/>
              </a:rPr>
              <a:t>CUT TO 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1600">
                <a:solidFill>
                  <a:srgbClr val="1967D2"/>
                </a:solidFill>
                <a:latin typeface="Consolas"/>
              </a:rPr>
              <a:t>HOW THE SYNC SPREADS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02124"/>
                </a:solidFill>
                <a:latin typeface="Google Sans"/>
              </a:rPr>
              <a:t>One teacher publishes.
Every nearby device catches up in seconds.</a:t>
            </a:r>
          </a:p>
        </p:txBody>
      </p:sp>
      <p:sp>
        <p:nvSpPr>
          <p:cNvPr id="4" name="Oval 3"/>
          <p:cNvSpPr/>
          <p:nvPr/>
        </p:nvSpPr>
        <p:spPr>
          <a:xfrm>
            <a:off x="4270248" y="2743200"/>
            <a:ext cx="3657600" cy="3657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27448" y="3200400"/>
            <a:ext cx="2743200" cy="274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911208" y="3886200"/>
            <a:ext cx="1187840" cy="685800"/>
          </a:xfrm>
          <a:prstGeom prst="line">
            <a:avLst/>
          </a:prstGeom>
          <a:ln w="15875">
            <a:solidFill>
              <a:srgbClr val="19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099048" y="3886201"/>
            <a:ext cx="1187840" cy="685799"/>
          </a:xfrm>
          <a:prstGeom prst="line">
            <a:avLst/>
          </a:prstGeom>
          <a:ln w="15875">
            <a:solidFill>
              <a:srgbClr val="19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4911208" y="4572000"/>
            <a:ext cx="1187840" cy="685799"/>
          </a:xfrm>
          <a:prstGeom prst="line">
            <a:avLst/>
          </a:prstGeom>
          <a:ln w="15875">
            <a:solidFill>
              <a:srgbClr val="19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9048" y="4572000"/>
            <a:ext cx="1187840" cy="685799"/>
          </a:xfrm>
          <a:prstGeom prst="line">
            <a:avLst/>
          </a:prstGeom>
          <a:ln w="15875">
            <a:solidFill>
              <a:srgbClr val="19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9048" y="4572000"/>
            <a:ext cx="0" cy="1371600"/>
          </a:xfrm>
          <a:prstGeom prst="line">
            <a:avLst/>
          </a:prstGeom>
          <a:ln w="15875">
            <a:solidFill>
              <a:srgbClr val="196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618600" y="359359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96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5448" y="37490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967D2"/>
                </a:solidFill>
                <a:latin typeface="Roboto"/>
              </a:rPr>
              <a:t>S1</a:t>
            </a:r>
          </a:p>
        </p:txBody>
      </p:sp>
      <p:sp>
        <p:nvSpPr>
          <p:cNvPr id="13" name="Oval 12"/>
          <p:cNvSpPr/>
          <p:nvPr/>
        </p:nvSpPr>
        <p:spPr>
          <a:xfrm>
            <a:off x="6994280" y="3593593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96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21128" y="3749041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967D2"/>
                </a:solidFill>
                <a:latin typeface="Roboto"/>
              </a:rPr>
              <a:t>S2</a:t>
            </a:r>
          </a:p>
        </p:txBody>
      </p:sp>
      <p:sp>
        <p:nvSpPr>
          <p:cNvPr id="15" name="Oval 14"/>
          <p:cNvSpPr/>
          <p:nvPr/>
        </p:nvSpPr>
        <p:spPr>
          <a:xfrm>
            <a:off x="4618600" y="4965191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96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5448" y="5120639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967D2"/>
                </a:solidFill>
                <a:latin typeface="Roboto"/>
              </a:rPr>
              <a:t>S3</a:t>
            </a:r>
          </a:p>
        </p:txBody>
      </p:sp>
      <p:sp>
        <p:nvSpPr>
          <p:cNvPr id="17" name="Oval 16"/>
          <p:cNvSpPr/>
          <p:nvPr/>
        </p:nvSpPr>
        <p:spPr>
          <a:xfrm>
            <a:off x="6994280" y="4965191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96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21128" y="5120639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967D2"/>
                </a:solidFill>
                <a:latin typeface="Roboto"/>
              </a:rPr>
              <a:t>S4</a:t>
            </a:r>
          </a:p>
        </p:txBody>
      </p:sp>
      <p:sp>
        <p:nvSpPr>
          <p:cNvPr id="19" name="Oval 18"/>
          <p:cNvSpPr/>
          <p:nvPr/>
        </p:nvSpPr>
        <p:spPr>
          <a:xfrm>
            <a:off x="5806440" y="565099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96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33288" y="58064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967D2"/>
                </a:solidFill>
                <a:latin typeface="Roboto"/>
              </a:rPr>
              <a:t>S5</a:t>
            </a:r>
          </a:p>
        </p:txBody>
      </p:sp>
      <p:sp>
        <p:nvSpPr>
          <p:cNvPr id="21" name="Oval 20"/>
          <p:cNvSpPr/>
          <p:nvPr/>
        </p:nvSpPr>
        <p:spPr>
          <a:xfrm>
            <a:off x="5596128" y="4069080"/>
            <a:ext cx="1005840" cy="1005840"/>
          </a:xfrm>
          <a:prstGeom prst="ellipse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58968" y="442569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Roboto"/>
              </a:rPr>
              <a:t>TEACHER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10896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5F6168"/>
                </a:solidFill>
                <a:latin typeface="Roboto"/>
              </a:rPr>
              <a:t>Heartbeat returns peers. New devices auto-connect. </a:t>
            </a:r>
            <a:r>
              <a:rPr sz="1600" b="0">
                <a:solidFill>
                  <a:srgbClr val="5F6168"/>
                </a:solidFill>
                <a:latin typeface="Roboto"/>
              </a:rPr>
              <a:t>When they connect, they swap peer lists.</a:t>
            </a:r>
            <a:r>
              <a:rPr sz="1600" b="0">
                <a:solidFill>
                  <a:srgbClr val="5F6168"/>
                </a:solidFill>
                <a:latin typeface="Roboto"/>
              </a:rPr>
              <a:t>
A lesson posted on one tablet propagates to every other tablet on the local WiFi </a:t>
            </a:r>
            <a:r>
              <a:rPr sz="1600" b="1">
                <a:solidFill>
                  <a:srgbClr val="202124"/>
                </a:solidFill>
                <a:latin typeface="Roboto"/>
              </a:rPr>
              <a:t>within 30 seconds</a:t>
            </a:r>
            <a:r>
              <a:rPr sz="1600" b="0">
                <a:solidFill>
                  <a:srgbClr val="5F6168"/>
                </a:solidFill>
                <a:latin typeface="Roboto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967D2"/>
                </a:solidFill>
                <a:latin typeface="Google Sans"/>
              </a:rPr>
              <a:t>offlinefirst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228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spc="800">
                <a:solidFill>
                  <a:srgbClr val="9AA0A6"/>
                </a:solidFill>
                <a:latin typeface="Consolas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1600">
                <a:solidFill>
                  <a:srgbClr val="1967D2"/>
                </a:solidFill>
                <a:latin typeface="Consolas"/>
              </a:rPr>
              <a:t>REACH +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202124"/>
                </a:solidFill>
                <a:latin typeface="Google Sans"/>
              </a:rPr>
              <a:t>Built on web standards.
Free to 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474720"/>
            <a:ext cx="2577007" cy="146304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202836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967D2"/>
                </a:solidFill>
                <a:latin typeface="Google Sans"/>
              </a:rPr>
              <a:t>$0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20283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F6168"/>
                </a:solidFill>
                <a:latin typeface="Roboto"/>
              </a:rPr>
              <a:t>To deploy on Render's free 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8255" y="3474720"/>
            <a:ext cx="2577007" cy="146304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92575" y="3703320"/>
            <a:ext cx="202836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967D2"/>
                </a:solidFill>
                <a:latin typeface="Google Sans"/>
              </a:rPr>
              <a:t>$60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92575" y="4389120"/>
            <a:ext cx="20283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F6168"/>
                </a:solidFill>
                <a:latin typeface="Roboto"/>
              </a:rPr>
              <a:t>For a Raspberry Pi school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3474720"/>
            <a:ext cx="2577007" cy="146304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0751" y="3703320"/>
            <a:ext cx="202836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967D2"/>
                </a:solidFill>
                <a:latin typeface="Google San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0751" y="4389120"/>
            <a:ext cx="20283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F6168"/>
                </a:solidFill>
                <a:latin typeface="Roboto"/>
              </a:rPr>
              <a:t>Translated UI languages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4607" y="3474720"/>
            <a:ext cx="2577007" cy="146304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8927" y="3703320"/>
            <a:ext cx="202836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967D2"/>
                </a:solidFill>
                <a:latin typeface="Google Sans"/>
              </a:rPr>
              <a:t>0 KB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8927" y="4389120"/>
            <a:ext cx="20283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F6168"/>
                </a:solidFill>
                <a:latin typeface="Roboto"/>
              </a:rPr>
              <a:t>Internet needed to take a quiz after install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49240"/>
            <a:ext cx="3310128" cy="50292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399532"/>
            <a:ext cx="402336" cy="402336"/>
          </a:xfrm>
          <a:prstGeom prst="ellipse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54396"/>
            <a:ext cx="402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Google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5458968"/>
            <a:ext cx="24871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967D2"/>
                </a:solidFill>
                <a:latin typeface="Roboto"/>
              </a:rPr>
              <a:t>Quality education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33088" y="5349240"/>
            <a:ext cx="2871216" cy="50292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61688" y="5399532"/>
            <a:ext cx="402336" cy="402336"/>
          </a:xfrm>
          <a:prstGeom prst="ellipse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5454396"/>
            <a:ext cx="402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Google Sans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5458968"/>
            <a:ext cx="20482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967D2"/>
                </a:solidFill>
                <a:latin typeface="Roboto"/>
              </a:rPr>
              <a:t>Infrastructure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87184" y="5349240"/>
            <a:ext cx="3749040" cy="50292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15784" y="5399532"/>
            <a:ext cx="402336" cy="402336"/>
          </a:xfrm>
          <a:prstGeom prst="ellipse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15784" y="5454396"/>
            <a:ext cx="402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Google Sans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0416" y="545896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967D2"/>
                </a:solidFill>
                <a:latin typeface="Roboto"/>
              </a:rPr>
              <a:t>Reduced inequalities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967D2"/>
                </a:solidFill>
                <a:latin typeface="Google Sans"/>
              </a:rPr>
              <a:t>offlinefirst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2895" y="228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spc="800">
                <a:solidFill>
                  <a:srgbClr val="9AA0A6"/>
                </a:solidFill>
                <a:latin typeface="Consolas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32120" y="1554480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153912" y="1581912"/>
            <a:ext cx="585216" cy="585216"/>
          </a:xfrm>
          <a:prstGeom prst="ellipse">
            <a:avLst/>
          </a:prstGeom>
          <a:solidFill>
            <a:srgbClr val="FFFFFF"/>
          </a:solidFill>
          <a:ln w="30480">
            <a:solidFill>
              <a:srgbClr val="196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65176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>
                <a:solidFill>
                  <a:srgbClr val="202124"/>
                </a:solidFill>
                <a:latin typeface="Google Sans"/>
              </a:rPr>
              <a:t>Try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967D2"/>
                </a:solidFill>
                <a:latin typeface="Consolas"/>
              </a:rPr>
              <a:t>offlinefirst.onrender.com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967D2"/>
                </a:solidFill>
                <a:latin typeface="Consolas"/>
              </a:rPr>
              <a:t>github.com/EshanthPen/offlinefirst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spc="800">
                <a:solidFill>
                  <a:srgbClr val="9AA0A6"/>
                </a:solidFill>
                <a:latin typeface="Consolas"/>
              </a:rPr>
              <a:t>OFFLINEFIRST  ·  YCS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967D2"/>
                </a:solidFill>
                <a:latin typeface="Google Sans"/>
              </a:rPr>
              <a:t>offlinefirst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228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spc="800">
                <a:solidFill>
                  <a:srgbClr val="9AA0A6"/>
                </a:solidFill>
                <a:latin typeface="Consolas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